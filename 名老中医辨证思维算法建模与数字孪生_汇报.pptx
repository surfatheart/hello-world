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12191695" cy="36576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89B3C"/>
                </a:solidFill>
                <a:latin typeface="Microsoft YaHei"/>
              </a:rPr>
              <a:t>中医药 · 人工智能传承专题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名老中医临床辨证思维的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算法建模与数字孪生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89B3C"/>
                </a:solidFill>
                <a:latin typeface="Microsoft YaHei"/>
              </a:rPr>
              <a:t>核心命题：</a:t>
            </a:r>
            <a:r>
              <a:rPr sz="1800" b="0">
                <a:solidFill>
                  <a:srgbClr val="F2F6F4"/>
                </a:solidFill>
                <a:latin typeface="Microsoft YaHei"/>
              </a:rPr>
              <a:t>把口授心传的辨证思维  外显化、可计算化、可大规模部署。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9B3C"/>
                </a:solidFill>
                <a:latin typeface="Microsoft YaHei"/>
              </a:rPr>
              <a:t>战略价值 · 三个维度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>
                <a:solidFill>
                  <a:srgbClr val="F2F6F4"/>
                </a:solidFill>
                <a:latin typeface="Microsoft YaHei"/>
              </a:rPr>
              <a:t>① 个体经验 → 公共知识资产，打破名医资源高度集中的格局；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>
                <a:solidFill>
                  <a:srgbClr val="F2F6F4"/>
                </a:solidFill>
                <a:latin typeface="Microsoft YaHei"/>
              </a:rPr>
              <a:t>② 以算法建模验证、提炼经验规律，推动中医理论的现代化表达；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>
                <a:solidFill>
                  <a:srgbClr val="F2F6F4"/>
                </a:solidFill>
                <a:latin typeface="Microsoft YaHei"/>
              </a:rPr>
              <a:t>③ 数字化“活态传承”，让名医经验在基层、远程与健康管理中持续发挥作用。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1">
                <a:solidFill>
                  <a:srgbClr val="C89B3C"/>
                </a:solidFill>
                <a:latin typeface="Microsoft YaHei"/>
              </a:rPr>
              <a:t>全球态势：</a:t>
            </a:r>
            <a:r>
              <a:rPr sz="1650" b="0">
                <a:solidFill>
                  <a:srgbClr val="F2F6F4"/>
                </a:solidFill>
                <a:latin typeface="Microsoft YaHei"/>
              </a:rPr>
              <a:t>中、韩、印等传统医学大国已形成各具特色路径，领域整体由概念探索进入系统落地。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B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65760"/>
            <a:ext cx="640080" cy="6400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57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3D3B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9B3C"/>
                </a:solidFill>
                <a:latin typeface="Microsoft YaHei"/>
              </a:rPr>
              <a:t>数据基础设施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多模态数据采集：从验案整理到知识仓库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92224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规模最大语料库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覆盖 200 余位全国名老中医、近 10 万份验案、400 余万条医学问答对，构成迄今最大名医知识语料库。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44368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9504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专病库纵深布局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肺癌、冠心病、肺纤维化、慢性肾病、甲状腺等，单病种数百至逾千例，覆盖已延伸至西部地区。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22192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非结构化智能解析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深度学习+正则混合方法，疾病/症状/病机/中药实体抽取精确率、召回率、F1 达 88%–90%；Bert-BiLSTM-CRF 提升舌象、脉象识别。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74336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19472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国际四诊客观化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韩国韩医研究院 4 年、23 家机构、近 3000 例四象体质多模态库；印度 Nadi Tarangini 脉诊逾 13 万例、1250 余家诊所部署。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97880"/>
            <a:ext cx="256032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C89B3C"/>
                </a:solidFill>
                <a:latin typeface="Microsoft YaHei"/>
              </a:rPr>
              <a:t>亮点：</a:t>
            </a:r>
            <a:r>
              <a:rPr sz="1550" b="1">
                <a:solidFill>
                  <a:srgbClr val="222A2E"/>
                </a:solidFill>
                <a:latin typeface="Microsoft YaHei"/>
              </a:rPr>
              <a:t>数据规模需配质量管控——专病纵深 × 综合广度互补，避免“数据沼泽”，筑牢建模地基。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B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65760"/>
            <a:ext cx="640080" cy="6400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57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3D3B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9B3C"/>
                </a:solidFill>
                <a:latin typeface="Microsoft YaHei"/>
              </a:rPr>
              <a:t>核心算法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辨证思维建模：从规则系统到深度学习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92224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跨病种性能突破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肾病辨证 DNN 精准度 97%、F1 95%；肺纤维化 81.22%；围绝经期/不孕症/癌痛集中在 85%–97%。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44368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9504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多算法优势互补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SVM 适合中等样本高维分类；BP/CART 兼顾可解释与准确率；贝叶斯网络擅长概率推理与不确定性。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22192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图神经网络进阶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把中药-症状-证候-靶点建为知识图谱，图卷积聚合高阶路径+注意力融合，在语义层模拟名医配伍逻辑。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0016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45152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现存瓶颈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数据标注质量、证候标准不统一、小样本病种过拟合，仍是规模化应用的主要障碍。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97880"/>
            <a:ext cx="256032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C89B3C"/>
                </a:solidFill>
                <a:latin typeface="Microsoft YaHei"/>
              </a:rPr>
              <a:t>亮点：</a:t>
            </a:r>
            <a:r>
              <a:rPr sz="1550" b="1">
                <a:solidFill>
                  <a:srgbClr val="222A2E"/>
                </a:solidFill>
                <a:latin typeface="Microsoft YaHei"/>
              </a:rPr>
              <a:t>深度学习已具跨病种复制能力，正从“研究可行”迈向“临床可用”。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B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65760"/>
            <a:ext cx="640080" cy="6400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57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3D3B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9B3C"/>
                </a:solidFill>
                <a:latin typeface="Microsoft YaHei"/>
              </a:rPr>
              <a:t>系统落地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数字孪生与活态传承：从模型到系统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92224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可溯的知识表示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证候分解为“证候要素+药性组合”，症状→治法→处方步步可溯，奠定辨证推理的透明化与可审计性。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70048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15184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全场景系统集成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经典/图像/影音/心理行为纳入统一框架，数字孪生仿真模拟多次复诊动态；DeepSeek 等国产大模型作“理解与生成”内核。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22192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国际范式参照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印度 Ayush Grid “Yoga Posture AI” 2026 年 2 月公开展示，以视觉驱动实时姿态评估，纳入国家数字门户。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74336"/>
            <a:ext cx="137160" cy="137160"/>
          </a:xfrm>
          <a:prstGeom prst="rect">
            <a:avLst/>
          </a:prstGeom>
          <a:solidFill>
            <a:srgbClr val="1E8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19472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3D3B"/>
                </a:solidFill>
                <a:latin typeface="Microsoft YaHei"/>
              </a:rPr>
              <a:t>场景边界延伸  </a:t>
            </a:r>
            <a:r>
              <a:rPr sz="1550" b="0">
                <a:solidFill>
                  <a:srgbClr val="4A5559"/>
                </a:solidFill>
                <a:latin typeface="Microsoft YaHei"/>
              </a:rPr>
              <a:t>从诊疗决策走向健康维护、运动指导、生活方式管理，并通过数字公共基础设施实现国家级规模化部署。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97880"/>
            <a:ext cx="256032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C89B3C"/>
                </a:solidFill>
                <a:latin typeface="Microsoft YaHei"/>
              </a:rPr>
              <a:t>亮点：</a:t>
            </a:r>
            <a:r>
              <a:rPr sz="1550" b="1">
                <a:solidFill>
                  <a:srgbClr val="222A2E"/>
                </a:solidFill>
                <a:latin typeface="Microsoft YaHei"/>
              </a:rPr>
              <a:t>数字孪生不是静态存档，而是随临床输入动态响应、持续迭代的“数字名医”。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